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c9ea618cf42b7" /><Relationship Type="http://schemas.openxmlformats.org/officeDocument/2006/relationships/extended-properties" Target="/docProps/app.xml" Id="Rf405f5aa6b1b419c" /><Relationship Type="http://schemas.openxmlformats.org/officeDocument/2006/relationships/officeDocument" Target="/ppt/presentation.xml" Id="R8cfe42029b2c42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d98f9c7c64308"/>
  </p:sldMasterIdLst>
  <p:notesMasterIdLst>
    <p:notesMasterId xmlns:r="http://schemas.openxmlformats.org/officeDocument/2006/relationships" r:id="R8a4d8e8a93934be8"/>
  </p:notesMasterIdLst>
  <p:sldIdLst>
    <p:sldId xmlns:r="http://schemas.openxmlformats.org/officeDocument/2006/relationships" id="256" r:id="R59ef7573d6aa4e11"/>
    <p:sldId xmlns:r="http://schemas.openxmlformats.org/officeDocument/2006/relationships" id="257" r:id="R426c3f87af824bc1"/>
    <p:sldId xmlns:r="http://schemas.openxmlformats.org/officeDocument/2006/relationships" id="258" r:id="R573cbf29d82a45fa"/>
    <p:sldId xmlns:r="http://schemas.openxmlformats.org/officeDocument/2006/relationships" id="259" r:id="R2b857856f2804308"/>
    <p:sldId xmlns:r="http://schemas.openxmlformats.org/officeDocument/2006/relationships" id="260" r:id="R8976ac0bb8d14bf9"/>
    <p:sldId xmlns:r="http://schemas.openxmlformats.org/officeDocument/2006/relationships" id="261" r:id="R30faee20446746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4c1fe830634389" /><Relationship Type="http://schemas.openxmlformats.org/officeDocument/2006/relationships/slideMaster" Target="/ppt/slideMasters/slideMaster1.xml" Id="R12fd98f9c7c64308" /><Relationship Type="http://schemas.openxmlformats.org/officeDocument/2006/relationships/notesMaster" Target="/ppt/notesMasters/notesMaster1.xml" Id="R8a4d8e8a93934be8" /><Relationship Type="http://schemas.openxmlformats.org/officeDocument/2006/relationships/presProps" Target="/ppt/presProps.xml" Id="Rc4bc0f4e1aad4af4" /><Relationship Type="http://schemas.openxmlformats.org/officeDocument/2006/relationships/tableStyles" Target="/ppt/tableStyles.xml" Id="Rec84ae1f7d4f4637" /><Relationship Type="http://schemas.openxmlformats.org/officeDocument/2006/relationships/slide" Target="/ppt/slides/slide1.xml" Id="R59ef7573d6aa4e11" /><Relationship Type="http://schemas.openxmlformats.org/officeDocument/2006/relationships/slide" Target="/ppt/slides/slide2.xml" Id="R426c3f87af824bc1" /><Relationship Type="http://schemas.openxmlformats.org/officeDocument/2006/relationships/slide" Target="/ppt/slides/slide3.xml" Id="R573cbf29d82a45fa" /><Relationship Type="http://schemas.openxmlformats.org/officeDocument/2006/relationships/slide" Target="/ppt/slides/slide4.xml" Id="R2b857856f2804308" /><Relationship Type="http://schemas.openxmlformats.org/officeDocument/2006/relationships/slide" Target="/ppt/slides/slide5.xml" Id="R8976ac0bb8d14bf9" /><Relationship Type="http://schemas.openxmlformats.org/officeDocument/2006/relationships/slide" Target="/ppt/slides/slide6.xml" Id="R30faee204467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5be61a6297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cfa5783474ad5" /><Relationship Type="http://schemas.openxmlformats.org/officeDocument/2006/relationships/notesMaster" Target="/ppt/notesMasters/notesMaster1.xml" Id="Rb8975ba52e29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02bbfea7548b8" /><Relationship Type="http://schemas.openxmlformats.org/officeDocument/2006/relationships/notesMaster" Target="/ppt/notesMasters/notesMaster1.xml" Id="Rb780c42fe243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f62d930654ad6" /><Relationship Type="http://schemas.openxmlformats.org/officeDocument/2006/relationships/notesMaster" Target="/ppt/notesMasters/notesMaster1.xml" Id="R297b9f01d93a4c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e2d909ce940ff" /><Relationship Type="http://schemas.openxmlformats.org/officeDocument/2006/relationships/notesMaster" Target="/ppt/notesMasters/notesMaster1.xml" Id="Rb703478d3b9f4f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4b18e5b304582" /><Relationship Type="http://schemas.openxmlformats.org/officeDocument/2006/relationships/notesMaster" Target="/ppt/notesMasters/notesMaster1.xml" Id="R82bb52f58ce8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c5596c7564371" /><Relationship Type="http://schemas.openxmlformats.org/officeDocument/2006/relationships/notesMaster" Target="/ppt/notesMasters/notesMaster1.xml" Id="R37894e21e054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0:00-0:15</a:t>
            </a:r>
          </a:p>
          <a:p xmlns:a="http://schemas.openxmlformats.org/drawingml/2006/main">
            <a:r>
              <a:t>FairFlow Guardian is an AI trading safety layer for the BGA track. It proves when a market is fair enough to review, and when no trade is the healthiest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0:15-0:34</a:t>
            </a:r>
          </a:p>
          <a:p xmlns:a="http://schemas.openxmlformats.org/drawingml/2006/main">
            <a:r>
              <a:t>The retail problem is not only prediction. A trade can look profitable and still be unfair because of hidden costs, thin liquidity, spoofing, leverage pressure, or opaque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0:34-0:54</a:t>
            </a:r>
          </a:p>
          <a:p xmlns:a="http://schemas.openxmlformats.org/drawingml/2006/main">
            <a:r>
              <a:t>FairFlow turns public market data into liquidity, volatility, cost, manipulation, and risk features. The strategy agent can propose, but execution requires fairness, risk, route, and audit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0:54-1:18</a:t>
            </a:r>
          </a:p>
          <a:p xmlns:a="http://schemas.openxmlformats.org/drawingml/2006/main">
            <a:r>
              <a:t>In the demo, start with the Competition Runway: readiness, audit hash, evidence pack, route proof, and calm paper approval. Then switch to Manipulated and show the refusal.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1:18-1:41</a:t>
            </a:r>
          </a:p>
          <a:p xmlns:a="http://schemas.openxmlformats.org/drawingml/2006/main">
            <a:r>
              <a:t>The best proof is the manipulated case. Same system, same asset, lower market integrity. FairFlow blocks the trade, locks the route, and records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1:41-2:00</a:t>
            </a:r>
          </a:p>
          <a:p xmlns:a="http://schemas.openxmlformats.org/drawingml/2006/main">
            <a:r>
              <a:t>Close on the judging criteria: retail fairness, agentic depth, risk-first design, and inspectable proof. Better systems, not bigger bets.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3d396e559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2cd9fe0080434e" /><Relationship Type="http://schemas.openxmlformats.org/officeDocument/2006/relationships/slideLayout" Target="/ppt/slideLayouts/slideLayout1.xml" Id="R8cdff3019b6b4d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ff3019b6b4d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bbf5067df4787" /><Relationship Type="http://schemas.openxmlformats.org/officeDocument/2006/relationships/image" Target="/ppt/media/image.png" Id="R6c21db1355f241b6" /><Relationship Type="http://schemas.openxmlformats.org/officeDocument/2006/relationships/notesSlide" Target="/ppt/notesSlides/notesSlide1.xml" Id="Rfc6572f1a818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427c3213e492d" /><Relationship Type="http://schemas.openxmlformats.org/officeDocument/2006/relationships/notesSlide" Target="/ppt/notesSlides/notesSlide2.xml" Id="R3672be4b21ef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372168ef4902" /><Relationship Type="http://schemas.openxmlformats.org/officeDocument/2006/relationships/notesSlide" Target="/ppt/notesSlides/notesSlide3.xml" Id="Rf342b4a40677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d3e08fc84b29" /><Relationship Type="http://schemas.openxmlformats.org/officeDocument/2006/relationships/image" Target="/ppt/media/image2.png" Id="Re32aa28cc335496c" /><Relationship Type="http://schemas.openxmlformats.org/officeDocument/2006/relationships/notesSlide" Target="/ppt/notesSlides/notesSlide4.xml" Id="R27cab9d8bce041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8674e6f064f5c" /><Relationship Type="http://schemas.openxmlformats.org/officeDocument/2006/relationships/notesSlide" Target="/ppt/notesSlides/notesSlide5.xml" Id="R014d216c96ee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0c69aee394b82" /><Relationship Type="http://schemas.openxmlformats.org/officeDocument/2006/relationships/notesSlide" Target="/ppt/notesSlides/notesSlide6.xml" Id="R87404dc5197e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297B4-8B3C-42BC-B30C-52908AE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2327-CDC2-44CC-9E9E-87FA23E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38C62-DEA6-418D-85A7-625315FF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5C407-E487-4441-A179-6813E1C7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30526-4640-47FD-8BE2-268FDC4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80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51FA8-CD76-4C5C-A20E-3314806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4AEDE-C029-49FA-B08F-1EF7DE7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E4F43"/>
                </a:solidFill>
              </a:defRPr>
            </a:pPr>
            <a:r>
              <a:rPr sz="4500" b="1">
                <a:solidFill>
                  <a:srgbClr val="0E4F43"/>
                </a:solidFill>
              </a:rPr>
              <a:t>FairFlow Guardian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E4492-85EE-4D1F-9E1E-13BF86C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3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21D"/>
                </a:solidFill>
              </a:defRPr>
            </a:pPr>
            <a:r>
              <a:rPr sz="2550" b="1">
                <a:solidFill>
                  <a:srgbClr val="14221D"/>
                </a:solidFill>
              </a:rPr>
              <a:t>The AI trading safety layer whose strongest signal is when not to trade.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08FC8-B6FD-4AAF-90FF-E731C21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D67"/>
                </a:solidFill>
              </a:defRPr>
            </a:pPr>
            <a:r>
              <a:rPr sz="1800">
                <a:solidFill>
                  <a:srgbClr val="5D6D67"/>
                </a:solidFill>
              </a:rPr>
              <a:t>Built for the BGA AI Trading &amp; Strategy Track: fairer routing, explainable agents, risk gates, and audit proofs.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24949-3315-40EE-A67C-D79C48D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56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9525">
            <a:solidFill>
              <a:srgbClr val="DFF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DC026-C9D8-4BB9-9B69-E4CAC692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D67"/>
                </a:solidFill>
              </a:defRPr>
            </a:pPr>
            <a:r>
              <a:rPr sz="1125" b="1">
                <a:solidFill>
                  <a:srgbClr val="5D6D67"/>
                </a:solidFill>
              </a:rPr>
              <a:t>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6BE03-B5D9-4819-ADA4-AB21100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E4F43"/>
                </a:solidFill>
              </a:defRPr>
            </a:pPr>
            <a:r>
              <a:rPr sz="2025" b="1">
                <a:solidFill>
                  <a:srgbClr val="0E4F43"/>
                </a:solidFill>
              </a:rPr>
              <a:t>88/100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F6677-4090-436D-A40A-AF304E2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156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E4F1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290D8-069A-44E7-A6AC-9B4FD81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243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D67"/>
                </a:solidFill>
              </a:defRPr>
            </a:pPr>
            <a:r>
              <a:rPr sz="1125" b="1">
                <a:solidFill>
                  <a:srgbClr val="5D6D67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88C1B-37F5-4DB7-A013-F7B0501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338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36D"/>
                </a:solidFill>
              </a:defRPr>
            </a:pPr>
            <a:r>
              <a:rPr sz="2025" b="1">
                <a:solidFill>
                  <a:srgbClr val="24536D"/>
                </a:solidFill>
              </a:rPr>
              <a:t>94/100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421B9-32B1-4661-AA1A-AF07121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F11BB-0595-47F5-B463-C88F14A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24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D67"/>
                </a:solidFill>
              </a:defRPr>
            </a:pPr>
            <a:r>
              <a:rPr sz="1125" b="1">
                <a:solidFill>
                  <a:srgbClr val="5D6D67"/>
                </a:solidFill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73EBC-A42C-41BC-AECC-5341915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3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87812"/>
                </a:solidFill>
              </a:defRPr>
            </a:pPr>
            <a:r>
              <a:rPr sz="2025" b="1">
                <a:solidFill>
                  <a:srgbClr val="B87812"/>
                </a:solidFill>
              </a:rPr>
              <a:t>Post-only limit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1db1355f241b6"/>
          <a:srcRect xmlns:a="http://schemas.openxmlformats.org/drawingml/2006/main" l="8664" t="0" r="86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19150"/>
            <a:ext cx="4762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336EF-3C7A-483E-A690-E0280D5E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E4F43"/>
                </a:solidFill>
              </a:defRPr>
            </a:pPr>
            <a:r>
              <a:rPr sz="2625" b="1">
                <a:solidFill>
                  <a:srgbClr val="0E4F43"/>
                </a:solidFill>
              </a:rPr>
              <a:t>Better systems, not bigger bets.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C1011-B741-4F39-8BAF-58E9A182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6C468-23A6-4B25-9F91-58E7C6EA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71762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E7EEC-29CB-4B86-BDE0-16C43D9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D389F-6986-4B35-8F0F-58058586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9E4C9-9035-47E3-9604-72559D0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0BBC1-66E1-4FB8-A6C7-71595C8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389DE-5374-40E7-AD10-7B585EB5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0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C4517-727B-467A-966B-E9EEB267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C6849-11B8-42B2-83B2-B317D4B6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21D"/>
                </a:solidFill>
              </a:defRPr>
            </a:pPr>
            <a:r>
              <a:rPr sz="3750" b="1">
                <a:solidFill>
                  <a:srgbClr val="14221D"/>
                </a:solidFill>
              </a:rPr>
              <a:t>Most trading bots answer the wrong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0DE0D-ED2B-4212-8A68-8504277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D6D67"/>
                </a:solidFill>
              </a:defRPr>
            </a:pPr>
            <a:r>
              <a:rPr sz="2250">
                <a:solidFill>
                  <a:srgbClr val="5D6D67"/>
                </a:solidFill>
              </a:rPr>
              <a:t>Retail users do not only need a prediction. They need market-quality evidence before a route is allowed.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A28FF-7493-4EB6-87B3-7B30444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876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E4F1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D05CD-C480-4999-B2C3-706AC80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D67"/>
                </a:solidFill>
              </a:defRPr>
            </a:pPr>
            <a:r>
              <a:rPr sz="1275" b="1">
                <a:solidFill>
                  <a:srgbClr val="5D6D67"/>
                </a:solidFill>
              </a:rPr>
              <a:t>Information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3A891-C06E-4BD1-B82F-38B745B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536D"/>
                </a:solidFill>
              </a:defRPr>
            </a:pPr>
            <a:r>
              <a:rPr sz="2625" b="1">
                <a:solidFill>
                  <a:srgbClr val="24536D"/>
                </a:solidFill>
              </a:rPr>
              <a:t>Institutions see 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70C9B-77AF-4660-B142-9DE9F82A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95650"/>
            <a:ext cx="2876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E7E0"/>
          </a:solidFill>
          <a:ln xmlns:a="http://schemas.openxmlformats.org/drawingml/2006/main" w="9525">
            <a:solidFill>
              <a:srgbClr val="FFE7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A8654-9E03-42DF-996A-5EB0D0B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D67"/>
                </a:solidFill>
              </a:defRPr>
            </a:pPr>
            <a:r>
              <a:rPr sz="1275" b="1">
                <a:solidFill>
                  <a:srgbClr val="5D6D67"/>
                </a:solidFill>
              </a:rPr>
              <a:t>Retail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A653C-6BCF-4A9A-AB01-30D58D7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34A3F"/>
                </a:solidFill>
              </a:defRPr>
            </a:pPr>
            <a:r>
              <a:rPr sz="2625" b="1">
                <a:solidFill>
                  <a:srgbClr val="B34A3F"/>
                </a:solidFill>
              </a:rPr>
              <a:t>Costs hide in bps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0D8A6-0C00-4FFF-B45E-CADD7CB4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2876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6CBCD-382F-4B57-9C02-6796D49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D67"/>
                </a:solidFill>
              </a:defRPr>
            </a:pPr>
            <a:r>
              <a:rPr sz="1275" b="1">
                <a:solidFill>
                  <a:srgbClr val="5D6D67"/>
                </a:solidFill>
              </a:rPr>
              <a:t>Unsafe autonomy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FB315-0ABD-43BA-AE47-C0BE18D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7812"/>
                </a:solidFill>
              </a:defRPr>
            </a:pPr>
            <a:r>
              <a:rPr sz="2625" b="1">
                <a:solidFill>
                  <a:srgbClr val="B87812"/>
                </a:solidFill>
              </a:rPr>
              <a:t>Bots can run 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35971-CD16-462D-98D2-E2305974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4F43"/>
                </a:solidFill>
              </a:defRPr>
            </a:pPr>
            <a:r>
              <a:rPr sz="2325" b="1">
                <a:solidFill>
                  <a:srgbClr val="0E4F43"/>
                </a:solidFill>
              </a:rPr>
              <a:t>FairFlow changes the question from “will this make money?” to “is this market fair enough to route at all?”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335F5-20EE-483B-A5E8-BC9DE09B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48E75-2FD0-4754-96E8-5743B302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102225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272DB-1A34-44C6-910D-4FFB5B7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C921C-4884-4122-BC68-F9FD096B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25FFF-9C7A-43DF-850A-425DB07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81015-D70C-456C-A01B-50AF29A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B179-098C-48C7-96F4-2C8C4B67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41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5454B-E8F3-48A9-86BF-7797AF6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07CEC-4BFD-494B-AC50-63C6B7C7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221D"/>
                </a:solidFill>
              </a:defRPr>
            </a:pPr>
            <a:r>
              <a:rPr sz="3675" b="1">
                <a:solidFill>
                  <a:srgbClr val="14221D"/>
                </a:solidFill>
              </a:rPr>
              <a:t>The product is a guarded agent committee.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E5E3B-28D7-457A-AC87-81C20172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D67"/>
                </a:solidFill>
              </a:defRPr>
            </a:pPr>
            <a:r>
              <a:rPr sz="2025">
                <a:solidFill>
                  <a:srgbClr val="5D6D67"/>
                </a:solidFill>
              </a:rPr>
              <a:t>The strategy agent can propose. It cannot execute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9F7A7-9A07-47E1-A5E4-8251B892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8478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E4F1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42CF-C8BE-4928-BEDA-AC173BDD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536D"/>
                </a:solidFill>
              </a:defRPr>
            </a:pPr>
            <a:r>
              <a:rPr sz="2625" b="1">
                <a:solidFill>
                  <a:srgbClr val="24536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2C916-0B70-4449-94C1-2554EA42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21D"/>
                </a:solidFill>
              </a:defRPr>
            </a:pPr>
            <a:r>
              <a:rPr sz="1875" b="1">
                <a:solidFill>
                  <a:srgbClr val="14221D"/>
                </a:solidFill>
              </a:rPr>
              <a:t>Market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E6238-594F-4369-92ED-F8FF5557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18478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9525">
            <a:solidFill>
              <a:srgbClr val="DFF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F5D5-17B3-44BA-B864-CF352A0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E4F43"/>
                </a:solidFill>
              </a:defRPr>
            </a:pPr>
            <a:r>
              <a:rPr sz="2625" b="1">
                <a:solidFill>
                  <a:srgbClr val="0E4F4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D8BAA-5845-43D8-ADC3-CAD1C9B2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766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21D"/>
                </a:solidFill>
              </a:defRPr>
            </a:pPr>
            <a:r>
              <a:rPr sz="1875" b="1">
                <a:solidFill>
                  <a:srgbClr val="14221D"/>
                </a:solidFill>
              </a:rPr>
              <a:t>Agent debate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62B59-9D90-4FD3-B21D-81F6363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18478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E9F88-B88B-41C3-90E7-16FDA51A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7812"/>
                </a:solidFill>
              </a:defRPr>
            </a:pPr>
            <a:r>
              <a:rPr sz="2625" b="1">
                <a:solidFill>
                  <a:srgbClr val="B8781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B8CFE-BFC6-4F8F-9B80-46088836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766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21D"/>
                </a:solidFill>
              </a:defRPr>
            </a:pPr>
            <a:r>
              <a:rPr sz="1875" b="1">
                <a:solidFill>
                  <a:srgbClr val="14221D"/>
                </a:solidFill>
              </a:rPr>
              <a:t>Fairness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29C86-E1B1-48F9-B3DC-A1EA150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8478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E7E0"/>
          </a:solidFill>
          <a:ln xmlns:a="http://schemas.openxmlformats.org/drawingml/2006/main" w="9525">
            <a:solidFill>
              <a:srgbClr val="FFE7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C1384-053A-48CC-A45F-DB634D93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34A3F"/>
                </a:solidFill>
              </a:defRPr>
            </a:pPr>
            <a:r>
              <a:rPr sz="2625" b="1">
                <a:solidFill>
                  <a:srgbClr val="B34A3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5A973-60F8-4AB0-A441-4BC42C3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766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21D"/>
                </a:solidFill>
              </a:defRPr>
            </a:pPr>
            <a:r>
              <a:rPr sz="1875" b="1">
                <a:solidFill>
                  <a:srgbClr val="14221D"/>
                </a:solidFill>
              </a:rPr>
              <a:t>Route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097D2-D8A4-4EE0-A315-5EEEB9C3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8478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CD6A2-7A60-4521-90E8-D6B7D09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E4F43"/>
                </a:solidFill>
              </a:defRPr>
            </a:pPr>
            <a:r>
              <a:rPr sz="2625" b="1">
                <a:solidFill>
                  <a:srgbClr val="0E4F43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4C3E0-DEE5-4FE9-97FB-C504511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21D"/>
                </a:solidFill>
              </a:defRPr>
            </a:pPr>
            <a:r>
              <a:rPr sz="1875" b="1">
                <a:solidFill>
                  <a:srgbClr val="14221D"/>
                </a:solidFill>
              </a:rPr>
              <a:t>Audit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0F0C3-E910-4D24-90C6-35993DD2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E4F43"/>
                </a:solidFill>
              </a:defRPr>
            </a:pPr>
            <a:r>
              <a:rPr sz="2400" b="1">
                <a:solidFill>
                  <a:srgbClr val="0E4F43"/>
                </a:solidFill>
              </a:rPr>
              <a:t>Live Bybit data or deterministic fallback. Same typed backend. Same audit hash.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5DA02-7AE0-4B39-ABA7-95C60EC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0EAB3-2DE2-4433-8158-E1F967F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1139109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6CC42-42CF-4EF1-9300-022091F9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92F0-0FA1-4233-84D7-1C59EBCF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329B8-3042-4B47-872D-B9A5FC5A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1D339-2F1D-4EB9-9180-E2C4DD1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1010C-82B5-4710-BB6D-582D1DD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1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534CC-3FE7-402E-98A6-77414F1B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0A722-EE10-4400-9225-DF4224C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21D"/>
                </a:solidFill>
              </a:defRPr>
            </a:pPr>
            <a:r>
              <a:rPr sz="3750" b="1">
                <a:solidFill>
                  <a:srgbClr val="14221D"/>
                </a:solidFill>
              </a:rPr>
              <a:t>The finalist demo runway.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aa28cc335496c"/>
          <a:srcRect xmlns:a="http://schemas.openxmlformats.org/drawingml/2006/main" l="0" t="9722" r="0" b="9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65722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B71F-C636-4285-9044-8D15D6A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4F43"/>
                </a:solidFill>
              </a:defRPr>
            </a:pPr>
            <a:r>
              <a:rPr sz="2100" b="1">
                <a:solidFill>
                  <a:srgbClr val="0E4F43"/>
                </a:solidFill>
              </a:rPr>
              <a:t>1. Runway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AB242-E17E-484B-8500-FF1291E9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21D"/>
                </a:solidFill>
              </a:defRPr>
            </a:pPr>
            <a:r>
              <a:rPr sz="1650">
                <a:solidFill>
                  <a:srgbClr val="14221D"/>
                </a:solidFill>
              </a:rPr>
              <a:t>Lead with win readiness, audit hash, evidence pack, route proof, and calm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6907-2DCB-442C-BA7D-8183B929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536D"/>
                </a:solidFill>
              </a:defRPr>
            </a:pPr>
            <a:r>
              <a:rPr sz="2100" b="1">
                <a:solidFill>
                  <a:srgbClr val="24536D"/>
                </a:solidFill>
              </a:rPr>
              <a:t>2. Submission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4D8E0-CC99-4CB8-BF56-DE9F7FF2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21D"/>
                </a:solidFill>
              </a:defRPr>
            </a:pPr>
            <a:r>
              <a:rPr sz="1650">
                <a:solidFill>
                  <a:srgbClr val="14221D"/>
                </a:solidFill>
              </a:rPr>
              <a:t>Open the 2-minute path, proof block, generated assets, and rubric-aligned checklist.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559FD-1A7F-4599-B4A3-72987D0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34A3F"/>
                </a:solidFill>
              </a:defRPr>
            </a:pPr>
            <a:r>
              <a:rPr sz="2100" b="1">
                <a:solidFill>
                  <a:srgbClr val="B34A3F"/>
                </a:solidFill>
              </a:rPr>
              <a:t>3. No-trade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F0111-27E5-42E8-9BA7-DA78129B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21D"/>
                </a:solidFill>
              </a:defRPr>
            </a:pPr>
            <a:r>
              <a:rPr sz="1650">
                <a:solidFill>
                  <a:srgbClr val="14221D"/>
                </a:solidFill>
              </a:rPr>
              <a:t>Switch to Manipulated and show restraint as a protective outcome, not a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217E4-9FD4-4AD8-81CF-4FD3FE9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ACAB-C9F3-4001-94F6-AC04984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1885270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4A0AE-18E4-4A10-8621-2FF6BE41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6AC98-0136-4FFA-B05F-39C99543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BDB50-5FD2-442A-9010-A4860D1D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FE93-FCB2-4E68-9EFC-29C4078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513BC-E23C-4303-9591-D34DD623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01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10D02-B85D-4929-80DD-D9D1F27D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49A9E-D0E8-4061-9608-9339B16F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4221D"/>
                </a:solidFill>
              </a:defRPr>
            </a:pPr>
            <a:r>
              <a:rPr sz="3900" b="1">
                <a:solidFill>
                  <a:srgbClr val="14221D"/>
                </a:solidFill>
              </a:rPr>
              <a:t>No-trade is the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6927C-9B34-4ECE-B80C-74BCE624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D67"/>
                </a:solidFill>
              </a:defRPr>
            </a:pPr>
            <a:r>
              <a:rPr sz="2100">
                <a:solidFill>
                  <a:srgbClr val="5D6D67"/>
                </a:solidFill>
              </a:rPr>
              <a:t>Same system, same asset, different market integrity. Calm can route. Manipulated cannot.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66A4D-C193-4C71-8BB8-D4352D9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9525">
            <a:solidFill>
              <a:srgbClr val="DFF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719C-8A97-4B4D-8439-4491B1E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4F43"/>
                </a:solidFill>
              </a:defRPr>
            </a:pPr>
            <a:r>
              <a:rPr sz="2325" b="1">
                <a:solidFill>
                  <a:srgbClr val="0E4F43"/>
                </a:solidFill>
              </a:rPr>
              <a:t>Calm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A19B8-AB16-4230-903E-076CEE0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4F43"/>
                </a:solidFill>
              </a:defRPr>
            </a:pPr>
            <a:r>
              <a:rPr sz="2850" b="1">
                <a:solidFill>
                  <a:srgbClr val="0E4F43"/>
                </a:solidFill>
              </a:rPr>
              <a:t>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7241E-6EBE-4829-9AC3-CFD4978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21D"/>
                </a:solidFill>
              </a:defRPr>
            </a:pPr>
            <a:r>
              <a:rPr sz="2025" b="1">
                <a:solidFill>
                  <a:srgbClr val="14221D"/>
                </a:solidFill>
              </a:rPr>
              <a:t>SHORT / fairness 89/100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9274F-4DD2-4473-82C0-1A25AB8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D67"/>
                </a:solidFill>
              </a:defRPr>
            </a:pPr>
            <a:r>
              <a:rPr sz="1650">
                <a:solidFill>
                  <a:srgbClr val="5D6D67"/>
                </a:solidFill>
              </a:rPr>
              <a:t>Hidden cost: 3.8 bps. Route: Post-only limit.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75EC6-5C80-4FC9-A55F-028BAA5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E7E0"/>
          </a:solidFill>
          <a:ln xmlns:a="http://schemas.openxmlformats.org/drawingml/2006/main" w="9525">
            <a:solidFill>
              <a:srgbClr val="FFE7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4B978-4F40-4B0F-81AF-E034861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34A3F"/>
                </a:solidFill>
              </a:defRPr>
            </a:pPr>
            <a:r>
              <a:rPr sz="2325" b="1">
                <a:solidFill>
                  <a:srgbClr val="B34A3F"/>
                </a:solidFill>
              </a:rPr>
              <a:t>Manipulated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336DC-5472-40C8-8EDC-D3C8266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34A3F"/>
                </a:solidFill>
              </a:defRPr>
            </a:pPr>
            <a:r>
              <a:rPr sz="2850" b="1">
                <a:solidFill>
                  <a:srgbClr val="B34A3F"/>
                </a:solidFill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7C7D9-BCE0-4D7B-BF26-E603E3B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21D"/>
                </a:solidFill>
              </a:defRPr>
            </a:pPr>
            <a:r>
              <a:rPr sz="2025" b="1">
                <a:solidFill>
                  <a:srgbClr val="14221D"/>
                </a:solidFill>
              </a:rPr>
              <a:t>NO TRADE / fairness 50/100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8D063-C425-4630-9DB6-4846F3BE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D67"/>
                </a:solidFill>
              </a:defRPr>
            </a:pPr>
            <a:r>
              <a:rPr sz="1650">
                <a:solidFill>
                  <a:srgbClr val="5D6D67"/>
                </a:solidFill>
              </a:rPr>
              <a:t>No execution route unlocks when market quality fails.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C27E9-49F8-42F5-9E29-1009C05E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E4F43"/>
                </a:solidFill>
              </a:defRPr>
            </a:pPr>
            <a:r>
              <a:rPr sz="2400" b="1">
                <a:solidFill>
                  <a:srgbClr val="0E4F43"/>
                </a:solidFill>
              </a:rPr>
              <a:t>One click proves the thesis: restraint is a product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DCA15-A366-4E98-AAB9-805EE9D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307E3-C420-40CF-8E34-AC24E3E3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1319240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0214D-9AC3-4ABE-BA40-C37CF22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737A1-E4DE-4AC8-B3B7-E8A0D0A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0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C89A-3D2B-49F2-9FD8-DA63E23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0"/>
            <a:ext cx="46329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4466F-C42D-468B-9431-39C443B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9579F-8391-453E-AF5B-5631E74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F6D16-8494-4F1A-8520-A3AE280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D5D"/>
                </a:solidFill>
              </a:defRPr>
            </a:pPr>
            <a:r>
              <a:rPr sz="1200" b="1">
                <a:solidFill>
                  <a:srgbClr val="176D5D"/>
                </a:solidFill>
              </a:rPr>
              <a:t>BGA AI TRADING &amp; STRATEGY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C4482-7972-471E-ADDB-B2B7EFB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E4F43"/>
                </a:solidFill>
              </a:defRPr>
            </a:pPr>
            <a:r>
              <a:rPr sz="3900" b="1">
                <a:solidFill>
                  <a:srgbClr val="0E4F43"/>
                </a:solidFill>
              </a:rPr>
              <a:t>Why FairFlow wins.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508E8-A7AA-4089-B8D3-16108005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4F43"/>
                </a:solidFill>
              </a:defRPr>
            </a:pPr>
            <a:r>
              <a:rPr sz="2175" b="1">
                <a:solidFill>
                  <a:srgbClr val="0E4F43"/>
                </a:solidFill>
              </a:rPr>
              <a:t>BGA ethos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E7839-AA7C-4B43-BF48-96D5F9D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21D"/>
                </a:solidFill>
              </a:defRPr>
            </a:pPr>
            <a:r>
              <a:rPr sz="1800">
                <a:solidFill>
                  <a:srgbClr val="14221D"/>
                </a:solidFill>
              </a:rPr>
              <a:t>reduces information asymmetry for retail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7E339-DCE7-4278-BD46-3A8D65A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E7B47-046C-41B6-96D9-F270FFB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4F43"/>
                </a:solidFill>
              </a:defRPr>
            </a:pPr>
            <a:r>
              <a:rPr sz="2175" b="1">
                <a:solidFill>
                  <a:srgbClr val="0E4F43"/>
                </a:solidFill>
              </a:rPr>
              <a:t>Technical 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E6B12-8BC7-47E0-BC06-E394BA6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21D"/>
                </a:solidFill>
              </a:defRPr>
            </a:pPr>
            <a:r>
              <a:rPr sz="1800">
                <a:solidFill>
                  <a:srgbClr val="14221D"/>
                </a:solidFill>
              </a:rPr>
              <a:t>agent committee + typed API + Solidity anchor kit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1938C-B514-4949-AD6F-0D84E19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D2BB1-C2AC-46E2-A1AC-D68DD13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4F43"/>
                </a:solidFill>
              </a:defRPr>
            </a:pPr>
            <a:r>
              <a:rPr sz="2175" b="1">
                <a:solidFill>
                  <a:srgbClr val="0E4F43"/>
                </a:solidFill>
              </a:rPr>
              <a:t>Risk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586C0-79C9-4ED0-982A-3712813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21D"/>
                </a:solidFill>
              </a:defRPr>
            </a:pPr>
            <a:r>
              <a:rPr sz="1800">
                <a:solidFill>
                  <a:srgbClr val="14221D"/>
                </a:solidFill>
              </a:rPr>
              <a:t>costs, liquidation, volatility, manipulation, route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5E27E-2842-48B9-BD92-C5A2EA89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BE877-B583-4C9A-9687-BF16176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4F43"/>
                </a:solidFill>
              </a:defRPr>
            </a:pPr>
            <a:r>
              <a:rPr sz="2175" b="1">
                <a:solidFill>
                  <a:srgbClr val="0E4F43"/>
                </a:solidFill>
              </a:rPr>
              <a:t>Transparency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585FD-01D8-499A-AE59-E6413377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21D"/>
                </a:solidFill>
              </a:defRPr>
            </a:pPr>
            <a:r>
              <a:rPr sz="1800">
                <a:solidFill>
                  <a:srgbClr val="14221D"/>
                </a:solidFill>
              </a:rPr>
              <a:t>evidence pack, receipt, provenance, audit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728DD-3CC0-41DB-9609-45D02C2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8C4E6-BF7D-46EA-BC47-8FF35CC4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705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9525">
            <a:solidFill>
              <a:srgbClr val="DFF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BE3B9-E9CA-45EF-BE2C-DA159420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4F43"/>
                </a:solidFill>
              </a:defRPr>
            </a:pPr>
            <a:r>
              <a:rPr sz="2550" b="1">
                <a:solidFill>
                  <a:srgbClr val="0E4F43"/>
                </a:solidFill>
              </a:rPr>
              <a:t>Better systems, not bigger bets.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BB089-3C06-4866-A206-F3B7546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34A3F"/>
                </a:solidFill>
              </a:defRPr>
            </a:pPr>
            <a:r>
              <a:rPr sz="2025" b="1">
                <a:solidFill>
                  <a:srgbClr val="B34A3F"/>
                </a:solidFill>
              </a:rPr>
              <a:t>Final demo move: copy the evidence pack and show the audit hash.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DFA2D-8DDE-4A0C-BC87-2682F30A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FairFlow Guardian / 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3C4C4-CCDB-4ADA-AE5B-52770896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D6D67"/>
                </a:solidFill>
              </a:defRPr>
            </a:pPr>
            <a:r>
              <a:rPr sz="1200">
                <a:solidFill>
                  <a:srgbClr val="5D6D67"/>
                </a:solidFill>
              </a:rPr>
              <a:t>Video-ready deck: 2:00</a:t>
            </a:r>
          </a:p>
        </p:txBody>
      </p:sp>
    </p:spTree>
    <p:extLst>
      <p:ext uri="{BB962C8B-B14F-4D97-AF65-F5344CB8AC3E}">
        <p14:creationId xmlns:p14="http://schemas.microsoft.com/office/powerpoint/2010/main" val="161438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2026-06-21T09:32:06.0290000Z</dcterms:created>
  <dcterms:modified xsi:type="dcterms:W3CDTF">2026-06-21T09:32:06.0290000Z</dcterms:modified>
</coreProperties>
</file>